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 (1 min). Presentar el programa: pregrado profesional 100 % virtual de 150 créditos, de la ECBTI. Pregunta rompehielo: ¿cómo creen que el celular reconoce su cara o una app sabe qué canción recomendar? Si es posible, reproducir aquí el video de 1:45.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con ejemplos reales: detectar fraudes en un banco, predecir la demanda de productos en una tienda, apoyar diagnósticos médicos con imágenes, chatbots que responden en lenguaje natural. Recalcar la ética y el compromiso social (perfil de egreso del Documento Maestro).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Contar qué problemas resuelve en una institución: reducir tiempos de atención con automatización, anticipar deserción estudiantil, optimizar rutas de distribución, tableros de datos para alcaldías. Mencionar que también puede emprender o trabajar de forma remota para empresas nacionales e internacionales.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Explicar: qué es la articulación y el reconocimiento de saberes; qué significa aprobar un curso desde la formación media; cuántos créditos se reconocen; cómo matricular con la coordinación del SINEP. IMPORTANTE: confirmar con la coordinación SINEP–ECBTI la lista oficial de cursos y créditos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los beneficios (ahorro de tiempo y económico, continuidad, movilidad, proyecto de vida). Invitar a diligenciar el formulario y abrir la sesión de preguntas. Recordar el espacio de orientación del 29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UNAD · ECBTI · Del SINEP a la Ingeniería</a:t>
            </a:r>
          </a:p>
        </p:txBody>
      </p:sp>
      <p:sp>
        <p:nvSpPr>
          <p:cNvPr id="5" name="Oval 4"/>
          <p:cNvSpPr/>
          <p:nvPr/>
        </p:nvSpPr>
        <p:spPr>
          <a:xfrm>
            <a:off x="7680960" y="-1463040"/>
            <a:ext cx="5669280" cy="5669280"/>
          </a:xfrm>
          <a:prstGeom prst="ellipse">
            <a:avLst/>
          </a:prstGeom>
          <a:noFill/>
          <a:ln w="25400">
            <a:solidFill>
              <a:srgbClr val="FDB9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-548640"/>
            <a:ext cx="4023360" cy="4023360"/>
          </a:xfrm>
          <a:prstGeom prst="ellipse">
            <a:avLst/>
          </a:prstGeom>
          <a:noFill/>
          <a:ln w="25400">
            <a:solidFill>
              <a:srgbClr val="19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822960"/>
            <a:ext cx="4322917" cy="384048"/>
          </a:xfrm>
          <a:prstGeom prst="roundRect">
            <a:avLst>
              <a:gd name="adj" fmla="val 5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400" b="1">
                <a:solidFill>
                  <a:srgbClr val="0B2A5B"/>
                </a:solidFill>
                <a:latin typeface="Montserrat"/>
              </a:rPr>
              <a:t>Jornada 1 · Tecnologías Digitales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8686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ontserrat"/>
              </a:rPr>
              <a:t>Ingeniería en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FDB913"/>
                </a:solidFill>
                <a:latin typeface="Montserrat"/>
              </a:rPr>
              <a:t>Inteligencia Artificial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ontserrat"/>
              </a:rPr>
              <a:t>y </a:t>
            </a:r>
            <a:r>
              <a:rPr sz="5000" b="1">
                <a:solidFill>
                  <a:srgbClr val="19B3B1"/>
                </a:solidFill>
                <a:latin typeface="Montserrat"/>
              </a:rPr>
              <a:t>Ciencia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Montserrat"/>
              </a:rPr>
              <a:t>Escuela de Ciencias Básicas, Tecnología e Ingeniería – ECBTI · UNAD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554480" cy="960120"/>
          </a:xfrm>
          <a:prstGeom prst="roundRect">
            <a:avLst>
              <a:gd name="adj" fmla="val 18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DB913"/>
                </a:solidFill>
                <a:latin typeface="Montserrat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046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Virtual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983480"/>
            <a:ext cx="1554480" cy="960120"/>
          </a:xfrm>
          <a:prstGeom prst="roundRect">
            <a:avLst>
              <a:gd name="adj" fmla="val 18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504748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DB913"/>
                </a:solidFill>
                <a:latin typeface="Montserrat"/>
              </a:rPr>
              <a:t>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55046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Créditos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983480"/>
            <a:ext cx="2779775" cy="960120"/>
          </a:xfrm>
          <a:prstGeom prst="roundRect">
            <a:avLst>
              <a:gd name="adj" fmla="val 18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047488"/>
            <a:ext cx="25054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DB913"/>
                </a:solidFill>
                <a:latin typeface="Montserrat"/>
              </a:rPr>
              <a:t>Pregrado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504688"/>
            <a:ext cx="2505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Título de ingeniero(a)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715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Jueves 1 de octubre · 7:00 p. 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70080" cy="73152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UNAD · ECBTI · Del SINEP a la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2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"/>
            <a:ext cx="2118481" cy="329184"/>
          </a:xfrm>
          <a:prstGeom prst="roundRect">
            <a:avLst>
              <a:gd name="adj" fmla="val 5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0B2A5B"/>
                </a:solidFill>
                <a:latin typeface="Montserrat"/>
              </a:rPr>
              <a:t>Perfil profesional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5B"/>
                </a:solidFill>
                <a:latin typeface="Montserrat"/>
              </a:rPr>
              <a:t>¿Qué hace este profesional?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B6678"/>
                </a:solidFill>
                <a:latin typeface="Montserrat"/>
              </a:rPr>
              <a:t>Enseña a las máquinas a aprender y convierte los datos en decisiones que mejoran la vida de las personas.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520440" cy="9144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B2433"/>
                </a:solidFill>
                <a:latin typeface="Montserrat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546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2A5B"/>
                </a:solidFill>
                <a:latin typeface="Montserrat"/>
              </a:rPr>
              <a:t>Desarrolla sistemas de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40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433"/>
                </a:solidFill>
                <a:latin typeface="Montserrat"/>
              </a:rPr>
              <a:t>Que automatizan y optimizan procesos en empresas y comunidades.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240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2240280"/>
            <a:ext cx="3520440" cy="91440"/>
          </a:xfrm>
          <a:prstGeom prst="rect">
            <a:avLst/>
          </a:prstGeom>
          <a:solidFill>
            <a:srgbClr val="19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B2433"/>
                </a:solidFill>
                <a:latin typeface="Montserrat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1546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2A5B"/>
                </a:solidFill>
                <a:latin typeface="Montserrat"/>
              </a:rPr>
              <a:t>Convierte datos en decisiones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840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433"/>
                </a:solidFill>
                <a:latin typeface="Montserrat"/>
              </a:rPr>
              <a:t>Recolecta, procesa, analiza y visualiza información.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24028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2240280"/>
            <a:ext cx="3520440" cy="91440"/>
          </a:xfrm>
          <a:prstGeom prst="rect">
            <a:avLst/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>
                <a:solidFill>
                  <a:srgbClr val="1B2433"/>
                </a:solidFill>
                <a:latin typeface="Montserrat"/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2A5B"/>
                </a:solidFill>
                <a:latin typeface="Montserrat"/>
              </a:rPr>
              <a:t>Lidera proyectos innovadores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8404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2433"/>
                </a:solidFill>
                <a:latin typeface="Montserrat"/>
              </a:rPr>
              <a:t>De IA y ciencia de datos con ética, seguridad y sostenibilidad.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12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DB913"/>
                </a:solidFill>
                <a:latin typeface="Montserrat"/>
              </a:rPr>
              <a:t>¿Es para ti?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Perfil de ingreso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98348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Te gusta la tecnología, resolver problemas y pensar con lógica. Tienes curiosidad, creatividad, disposición para trabajar en equipo y aprender de forma autónoma. No necesitas experiencia previa.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70080" cy="73152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UNAD · ECBTI · Del SINEP a la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3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"/>
            <a:ext cx="1580814" cy="329184"/>
          </a:xfrm>
          <a:prstGeom prst="roundRect">
            <a:avLst>
              <a:gd name="adj" fmla="val 5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0B2A5B"/>
                </a:solidFill>
                <a:latin typeface="Montserrat"/>
              </a:rPr>
              <a:t>Campo laboral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5B"/>
                </a:solidFill>
                <a:latin typeface="Montserrat"/>
              </a:rPr>
              <a:t>¿En qué puedes trabajar?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830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Ingeniero(a) de soluciones de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783080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830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19" y="17830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Analista de datos y modelos predictivos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517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👁️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6517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Ingeniero(a) en sistemas autónomos (visión y lenguaje)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2651760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6517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19" y="26517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Desarrollador(a) de IA generativa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3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520439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Especialista en visualización de datos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3520439"/>
            <a:ext cx="539496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352043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1B2433"/>
                </a:solidFill>
                <a:latin typeface="Montserrat"/>
              </a:rPr>
              <a:t>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19" y="3520439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Líder de proyectos y consultor(a) en transformación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B2A5B"/>
                </a:solidFill>
                <a:latin typeface="Montserrat"/>
              </a:rPr>
              <a:t>Sectores que necesitan tu talento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813815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Salud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99615" y="4983480"/>
            <a:ext cx="1137513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Finanzas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4289" y="4983480"/>
            <a:ext cx="1137513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Comercio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8963" y="4983480"/>
            <a:ext cx="1245412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Logística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31536" y="4983480"/>
            <a:ext cx="1245412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Educación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4108" y="4983480"/>
            <a:ext cx="705916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Agro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57185" y="4983480"/>
            <a:ext cx="1245412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Industria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9758" y="4983480"/>
            <a:ext cx="1892807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Entretenimiento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58968"/>
            <a:ext cx="1784908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Sector público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70708" y="5458968"/>
            <a:ext cx="1784908" cy="329184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Emprendimiento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70080" cy="73152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UNAD · ECBTI · Del SINEP a la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5B6678"/>
                </a:solidFill>
                <a:latin typeface="Montserrat"/>
              </a:rPr>
              <a:t>4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"/>
            <a:ext cx="2978749" cy="329184"/>
          </a:xfrm>
          <a:prstGeom prst="roundRect">
            <a:avLst>
              <a:gd name="adj" fmla="val 5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0B2A5B"/>
                </a:solidFill>
                <a:latin typeface="Montserrat"/>
              </a:rPr>
              <a:t>Articulación SINEP – ECBTI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B2A5B"/>
                </a:solidFill>
                <a:latin typeface="Montserrat"/>
              </a:rPr>
              <a:t>Empieza la universidad desde el colegio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2331720" cy="265176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DB913"/>
                </a:solidFill>
                <a:latin typeface="Montserrat"/>
              </a:rPr>
              <a:t>3</a:t>
            </a:r>
            <a:r>
              <a:rPr sz="1200" b="1">
                <a:solidFill>
                  <a:srgbClr val="FDB913"/>
                </a:solidFill>
                <a:latin typeface="Montserrat"/>
              </a:rPr>
              <a:t>  créditos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Pensamiento Lógico Matemático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Razonamiento lógico, álgebra y resolución de problemas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783080"/>
            <a:ext cx="2331720" cy="265176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92024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DB913"/>
                </a:solidFill>
                <a:latin typeface="Montserrat"/>
              </a:rPr>
              <a:t>3</a:t>
            </a:r>
            <a:r>
              <a:rPr sz="1200" b="1">
                <a:solidFill>
                  <a:srgbClr val="FDB913"/>
                </a:solidFill>
                <a:latin typeface="Montserrat"/>
              </a:rPr>
              <a:t>  créditos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Fundamentos de Programación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4747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Tus primeros algoritmos y programas en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783080"/>
            <a:ext cx="2331720" cy="265176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92024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DB913"/>
                </a:solidFill>
                <a:latin typeface="Montserrat"/>
              </a:rPr>
              <a:t>2</a:t>
            </a:r>
            <a:r>
              <a:rPr sz="1200" b="1">
                <a:solidFill>
                  <a:srgbClr val="FDB913"/>
                </a:solidFill>
                <a:latin typeface="Montserrat"/>
              </a:rPr>
              <a:t>  créditos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69748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Introducción a la Ingeniería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47472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Montserrat"/>
              </a:rPr>
              <a:t>Qué hace un ingeniero y cómo se resuelven problemas reales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B2433"/>
                </a:solidFill>
                <a:latin typeface="Montserrat"/>
              </a:rPr>
              <a:t>✔ Hasta </a:t>
            </a:r>
            <a:r>
              <a:rPr sz="1500" b="1">
                <a:solidFill>
                  <a:srgbClr val="0B2A5B"/>
                </a:solidFill>
                <a:latin typeface="Montserrat"/>
              </a:rPr>
              <a:t>8 créditos</a:t>
            </a:r>
            <a:r>
              <a:rPr sz="1500" b="0">
                <a:solidFill>
                  <a:srgbClr val="1B2433"/>
                </a:solidFill>
                <a:latin typeface="Montserrat"/>
              </a:rPr>
              <a:t> reconocidos al ingresar al programa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678"/>
                </a:solidFill>
                <a:latin typeface="Montserrat"/>
              </a:rPr>
              <a:t>✔ Ahorras tiempo y dinero   ✔ Continuidad académica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5B6678"/>
                </a:solidFill>
                <a:latin typeface="Montserrat"/>
              </a:rPr>
              <a:t>✔ Mayor posibilidad de ingreso   ✔ Fortaleces tu proyecto de vida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783080"/>
            <a:ext cx="342900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1874519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B2A5B"/>
                </a:solidFill>
                <a:latin typeface="Montserrat"/>
              </a:rPr>
              <a:t>Tu ruta, paso a paso</a:t>
            </a:r>
          </a:p>
        </p:txBody>
      </p:sp>
      <p:sp>
        <p:nvSpPr>
          <p:cNvPr id="25" name="Oval 24"/>
          <p:cNvSpPr/>
          <p:nvPr/>
        </p:nvSpPr>
        <p:spPr>
          <a:xfrm>
            <a:off x="8458200" y="2331720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31343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Conoce</a:t>
            </a:r>
          </a:p>
        </p:txBody>
      </p:sp>
      <p:sp>
        <p:nvSpPr>
          <p:cNvPr id="27" name="Oval 26"/>
          <p:cNvSpPr/>
          <p:nvPr/>
        </p:nvSpPr>
        <p:spPr>
          <a:xfrm>
            <a:off x="8458200" y="2953512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9352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Elige</a:t>
            </a:r>
          </a:p>
        </p:txBody>
      </p:sp>
      <p:sp>
        <p:nvSpPr>
          <p:cNvPr id="29" name="Oval 28"/>
          <p:cNvSpPr/>
          <p:nvPr/>
        </p:nvSpPr>
        <p:spPr>
          <a:xfrm>
            <a:off x="8458200" y="3575304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55701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Matricula</a:t>
            </a:r>
          </a:p>
        </p:txBody>
      </p:sp>
      <p:sp>
        <p:nvSpPr>
          <p:cNvPr id="31" name="Oval 30"/>
          <p:cNvSpPr/>
          <p:nvPr/>
        </p:nvSpPr>
        <p:spPr>
          <a:xfrm>
            <a:off x="8458200" y="4197096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17880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Aprueba</a:t>
            </a:r>
          </a:p>
        </p:txBody>
      </p:sp>
      <p:sp>
        <p:nvSpPr>
          <p:cNvPr id="33" name="Oval 32"/>
          <p:cNvSpPr/>
          <p:nvPr/>
        </p:nvSpPr>
        <p:spPr>
          <a:xfrm>
            <a:off x="8458200" y="4818888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800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Gradúate de bachiller</a:t>
            </a:r>
          </a:p>
        </p:txBody>
      </p:sp>
      <p:sp>
        <p:nvSpPr>
          <p:cNvPr id="35" name="Oval 34"/>
          <p:cNvSpPr/>
          <p:nvPr/>
        </p:nvSpPr>
        <p:spPr>
          <a:xfrm>
            <a:off x="8458200" y="5440680"/>
            <a:ext cx="420624" cy="420624"/>
          </a:xfrm>
          <a:prstGeom prst="ellipse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B2A5B"/>
                </a:solidFill>
                <a:latin typeface="Montserrat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42239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433"/>
                </a:solidFill>
                <a:latin typeface="Montserrat"/>
              </a:rPr>
              <a:t>Continúa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UNAD · ECBTI · Del SINEP a la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"/>
            <a:ext cx="3301349" cy="329184"/>
          </a:xfrm>
          <a:prstGeom prst="roundRect">
            <a:avLst>
              <a:gd name="adj" fmla="val 5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0B2A5B"/>
                </a:solidFill>
                <a:latin typeface="Montserrat"/>
              </a:rPr>
              <a:t>¿Por qué estudiar en la UNAD?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ontserrat"/>
              </a:rPr>
              <a:t>Tu futuro empieza hoy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B2433"/>
                </a:solidFill>
                <a:latin typeface="Montserrat"/>
              </a:rPr>
              <a:t>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920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DB913"/>
                </a:solidFill>
                <a:latin typeface="Montserrat"/>
              </a:rPr>
              <a:t>Estudias desde cualquier lugar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9631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Modalidad 100 % virtual, a tu ritmo y con acompañamiento tutorial.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9476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B2433"/>
                </a:solidFill>
                <a:latin typeface="Montserrat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920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DB913"/>
                </a:solidFill>
                <a:latin typeface="Montserrat"/>
              </a:rPr>
              <a:t>Continuidad desde el SINEP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49631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Los cursos que apruebas en la media se reconocen en el pregrado.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9476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B2433"/>
                </a:solidFill>
                <a:latin typeface="Montserrat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1920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DB913"/>
                </a:solidFill>
                <a:latin typeface="Montserrat"/>
              </a:rPr>
              <a:t>Ahorro de tiempo y dinero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399" y="249631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Créditos adelantados = menos semestres y menos costos.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33832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35478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B2433"/>
                </a:solidFill>
                <a:latin typeface="Montserrat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35204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DB913"/>
                </a:solidFill>
                <a:latin typeface="Montserrat"/>
              </a:rPr>
              <a:t>Currículo flexible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09651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30 créditos electivos, 4 líneas de profundización y movilidad entre programas.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199" y="33832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16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799" y="35478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B2433"/>
                </a:solidFill>
                <a:latin typeface="Montserrat"/>
              </a:rPr>
              <a:t>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35204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DB913"/>
                </a:solidFill>
                <a:latin typeface="Montserrat"/>
              </a:rPr>
              <a:t>Investigación y posgrado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096512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FFFFFF"/>
                </a:solidFill>
                <a:latin typeface="Montserrat"/>
              </a:rPr>
              <a:t>Semilleros, prácticas y articulación con especializaciones y maestrías.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109960" cy="960120"/>
          </a:xfrm>
          <a:prstGeom prst="roundRect">
            <a:avLst>
              <a:gd name="adj" fmla="val 30000"/>
            </a:avLst>
          </a:prstGeom>
          <a:solidFill>
            <a:srgbClr val="FDB9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21208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B2A5B"/>
                </a:solidFill>
                <a:latin typeface="Montserrat"/>
              </a:rPr>
              <a:t>📝 Llena el formulario de interés </a:t>
            </a:r>
            <a:r>
              <a:rPr sz="1400" b="0">
                <a:solidFill>
                  <a:srgbClr val="0B2A5B"/>
                </a:solidFill>
                <a:latin typeface="Montserrat"/>
              </a:rPr>
              <a:t>y elige IA y Ciencia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212080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800" b="1">
                <a:solidFill>
                  <a:srgbClr val="0B2A5B"/>
                </a:solidFill>
                <a:latin typeface="Montserrat"/>
              </a:rPr>
              <a:t>Del SINEP a la Ingeniería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